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4" r:id="rId8"/>
    <p:sldId id="265" r:id="rId9"/>
    <p:sldId id="266" r:id="rId10"/>
    <p:sldId id="267" r:id="rId11"/>
    <p:sldId id="268" r:id="rId12"/>
    <p:sldId id="271" r:id="rId13"/>
    <p:sldId id="262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64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5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95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0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4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9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94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7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rPr sz="4800" dirty="0">
                <a:solidFill>
                  <a:schemeClr val="accent2"/>
                </a:solidFill>
              </a:rPr>
              <a:t>Project </a:t>
            </a:r>
            <a:r>
              <a:rPr lang="en-US" sz="4800" dirty="0" smtClean="0">
                <a:solidFill>
                  <a:schemeClr val="accent2"/>
                </a:solidFill>
              </a:rPr>
              <a:t>2</a:t>
            </a:r>
            <a:r>
              <a:rPr sz="4800" dirty="0" smtClean="0">
                <a:solidFill>
                  <a:schemeClr val="accent2"/>
                </a:solidFill>
              </a:rPr>
              <a:t>: </a:t>
            </a:r>
            <a:r>
              <a:rPr lang="en-US" sz="4800" dirty="0">
                <a:solidFill>
                  <a:schemeClr val="accent2"/>
                </a:solidFill>
              </a:rPr>
              <a:t>Multiple Linear Regression on Advertising Dataset</a:t>
            </a:r>
            <a:endParaRPr sz="4800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Coding </a:t>
            </a:r>
            <a:r>
              <a:rPr dirty="0" smtClean="0">
                <a:solidFill>
                  <a:schemeClr val="accent2"/>
                </a:solidFill>
              </a:rPr>
              <a:t>Samurai Internship</a:t>
            </a:r>
            <a:endParaRPr lang="en-US" dirty="0" smtClean="0">
              <a:solidFill>
                <a:schemeClr val="accent2"/>
              </a:solidFill>
            </a:endParaRPr>
          </a:p>
          <a:p>
            <a:pPr>
              <a:defRPr>
                <a:solidFill>
                  <a:srgbClr val="003399"/>
                </a:solidFill>
              </a:defRPr>
            </a:pPr>
            <a:endParaRPr lang="en-US" dirty="0"/>
          </a:p>
          <a:p>
            <a:pPr algn="r">
              <a:defRPr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Created by:-Saniya Shaikh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28" y="0"/>
            <a:ext cx="3334493" cy="2250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Objective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To build a </a:t>
            </a:r>
            <a:r>
              <a:rPr lang="en-US" i="1" dirty="0">
                <a:solidFill>
                  <a:schemeClr val="accent2"/>
                </a:solidFill>
              </a:rPr>
              <a:t>multiple</a:t>
            </a:r>
            <a:r>
              <a:rPr lang="en-US" dirty="0">
                <a:solidFill>
                  <a:schemeClr val="accent2"/>
                </a:solidFill>
              </a:rPr>
              <a:t> linear regression model that predicts </a:t>
            </a:r>
            <a:r>
              <a:rPr lang="en-US" b="1" dirty="0">
                <a:solidFill>
                  <a:schemeClr val="accent2"/>
                </a:solidFill>
              </a:rPr>
              <a:t>Sales</a:t>
            </a:r>
            <a:r>
              <a:rPr lang="en-US" dirty="0">
                <a:solidFill>
                  <a:schemeClr val="accent2"/>
                </a:solidFill>
              </a:rPr>
              <a:t> based on three advertising channels — </a:t>
            </a:r>
            <a:r>
              <a:rPr lang="en-US" i="1" dirty="0">
                <a:solidFill>
                  <a:schemeClr val="accent2"/>
                </a:solidFill>
              </a:rPr>
              <a:t>TV, Radio, and Newspaper</a:t>
            </a:r>
            <a:r>
              <a:rPr lang="en-US" i="1" dirty="0" smtClean="0">
                <a:solidFill>
                  <a:schemeClr val="accent2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accent2"/>
                </a:solidFill>
              </a:rPr>
              <a:t>This </a:t>
            </a:r>
            <a:r>
              <a:rPr lang="en-US" dirty="0">
                <a:solidFill>
                  <a:schemeClr val="accent2"/>
                </a:solidFill>
              </a:rPr>
              <a:t>project focuses 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Understanding regression modeling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Generating synthetic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Evaluating prediction 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Visualizing relationships between variables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3399"/>
                </a:solidFill>
              </a:defRPr>
            </a:pPr>
            <a:r>
              <a:rPr lang="en-US" dirty="0" smtClean="0"/>
              <a:t> 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Created </a:t>
            </a:r>
            <a:r>
              <a:rPr lang="en-US" dirty="0">
                <a:solidFill>
                  <a:schemeClr val="accent2"/>
                </a:solidFill>
              </a:rPr>
              <a:t>a synthetic advertising dataset using </a:t>
            </a:r>
            <a:r>
              <a:rPr lang="en-US" dirty="0" err="1">
                <a:solidFill>
                  <a:schemeClr val="accent2"/>
                </a:solidFill>
              </a:rPr>
              <a:t>NumPy</a:t>
            </a:r>
            <a:r>
              <a:rPr lang="en-US" dirty="0" smtClean="0">
                <a:solidFill>
                  <a:schemeClr val="accent2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Rows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 smtClean="0">
                <a:solidFill>
                  <a:schemeClr val="accent2"/>
                </a:solidFill>
              </a:rPr>
              <a:t>120</a:t>
            </a:r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Columns</a:t>
            </a:r>
            <a:r>
              <a:rPr lang="en-US" dirty="0">
                <a:solidFill>
                  <a:schemeClr val="accent2"/>
                </a:solidFill>
              </a:rPr>
              <a:t>: TV, Radio, Newspaper, </a:t>
            </a:r>
            <a:r>
              <a:rPr lang="en-US" dirty="0" smtClean="0">
                <a:solidFill>
                  <a:schemeClr val="accent2"/>
                </a:solidFill>
              </a:rPr>
              <a:t>Sales</a:t>
            </a:r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Type</a:t>
            </a:r>
            <a:r>
              <a:rPr lang="en-US" dirty="0">
                <a:solidFill>
                  <a:schemeClr val="accent2"/>
                </a:solidFill>
              </a:rPr>
              <a:t>: Numeric, </a:t>
            </a:r>
            <a:r>
              <a:rPr lang="en-US" dirty="0" smtClean="0">
                <a:solidFill>
                  <a:schemeClr val="accent2"/>
                </a:solidFill>
              </a:rPr>
              <a:t>continuous</a:t>
            </a:r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Noise</a:t>
            </a:r>
            <a:r>
              <a:rPr lang="en-US" dirty="0">
                <a:solidFill>
                  <a:schemeClr val="accent2"/>
                </a:solidFill>
              </a:rPr>
              <a:t>: Added random noise for </a:t>
            </a:r>
            <a:r>
              <a:rPr lang="en-US" dirty="0" smtClean="0">
                <a:solidFill>
                  <a:schemeClr val="accent2"/>
                </a:solidFill>
              </a:rPr>
              <a:t>realism</a:t>
            </a:r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Formula </a:t>
            </a:r>
            <a:r>
              <a:rPr lang="en-US" dirty="0">
                <a:solidFill>
                  <a:schemeClr val="accent2"/>
                </a:solidFill>
              </a:rPr>
              <a:t>used to generate </a:t>
            </a:r>
            <a:r>
              <a:rPr lang="en-US" dirty="0" smtClean="0">
                <a:solidFill>
                  <a:schemeClr val="accent2"/>
                </a:solidFill>
              </a:rPr>
              <a:t>Sales : 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Sales </a:t>
            </a:r>
            <a:r>
              <a:rPr lang="en-US" dirty="0">
                <a:solidFill>
                  <a:schemeClr val="accent2"/>
                </a:solidFill>
              </a:rPr>
              <a:t>= 3 + 0.045*TV + 0.18*Radio + 0.02*Newspaper + noise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903" y="3240140"/>
            <a:ext cx="3558848" cy="12345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003399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Python, Pandas, </a:t>
            </a:r>
            <a:r>
              <a:rPr lang="en-US" dirty="0" err="1">
                <a:solidFill>
                  <a:schemeClr val="accent2"/>
                </a:solidFill>
              </a:rPr>
              <a:t>NumPy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Seaborn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Matplotlib</a:t>
            </a:r>
            <a:r>
              <a:rPr lang="en-US" dirty="0">
                <a:solidFill>
                  <a:schemeClr val="accent2"/>
                </a:solidFill>
              </a:rPr>
              <a:t>, </a:t>
            </a:r>
            <a:r>
              <a:rPr lang="en-US" dirty="0" err="1">
                <a:solidFill>
                  <a:schemeClr val="accent2"/>
                </a:solidFill>
              </a:rPr>
              <a:t>Scikit</a:t>
            </a:r>
            <a:r>
              <a:rPr lang="en-US" dirty="0">
                <a:solidFill>
                  <a:schemeClr val="accent2"/>
                </a:solidFill>
              </a:rPr>
              <a:t>-Learn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98" y="3220105"/>
            <a:ext cx="6020322" cy="18365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Steps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3399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Created </a:t>
            </a:r>
            <a:r>
              <a:rPr lang="en-US" dirty="0" err="1">
                <a:solidFill>
                  <a:schemeClr val="accent2"/>
                </a:solidFill>
              </a:rPr>
              <a:t>DataFrame</a:t>
            </a:r>
            <a:r>
              <a:rPr lang="en-US" dirty="0">
                <a:solidFill>
                  <a:schemeClr val="accent2"/>
                </a:solidFill>
              </a:rPr>
              <a:t> using </a:t>
            </a:r>
            <a:r>
              <a:rPr lang="en-US" dirty="0" smtClean="0">
                <a:solidFill>
                  <a:schemeClr val="accent2"/>
                </a:solidFill>
              </a:rPr>
              <a:t>Pandas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Checked </a:t>
            </a:r>
            <a:r>
              <a:rPr lang="en-US" dirty="0">
                <a:solidFill>
                  <a:schemeClr val="accent2"/>
                </a:solidFill>
              </a:rPr>
              <a:t>summary statistics (</a:t>
            </a:r>
            <a:r>
              <a:rPr lang="en-US" dirty="0" err="1">
                <a:solidFill>
                  <a:schemeClr val="accent2"/>
                </a:solidFill>
              </a:rPr>
              <a:t>df.describe</a:t>
            </a:r>
            <a:r>
              <a:rPr lang="en-US" dirty="0" smtClean="0">
                <a:solidFill>
                  <a:schemeClr val="accent2"/>
                </a:solidFill>
              </a:rPr>
              <a:t>())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3399"/>
                </a:solidFill>
              </a:defRPr>
            </a:pPr>
            <a:r>
              <a:rPr lang="en-US" dirty="0" smtClean="0">
                <a:solidFill>
                  <a:schemeClr val="accent2"/>
                </a:solidFill>
              </a:rPr>
              <a:t> Checked </a:t>
            </a:r>
            <a:r>
              <a:rPr lang="en-US" dirty="0">
                <a:solidFill>
                  <a:schemeClr val="accent2"/>
                </a:solidFill>
              </a:rPr>
              <a:t>missing values (</a:t>
            </a:r>
            <a:r>
              <a:rPr lang="en-US" dirty="0" err="1">
                <a:solidFill>
                  <a:schemeClr val="accent2"/>
                </a:solidFill>
              </a:rPr>
              <a:t>df.isnull</a:t>
            </a:r>
            <a:r>
              <a:rPr lang="en-US" dirty="0">
                <a:solidFill>
                  <a:schemeClr val="accent2"/>
                </a:solidFill>
              </a:rPr>
              <a:t>().sum</a:t>
            </a:r>
            <a:r>
              <a:rPr lang="en-US" dirty="0" smtClean="0">
                <a:solidFill>
                  <a:schemeClr val="accent2"/>
                </a:solidFill>
              </a:rPr>
              <a:t>())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3399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Generated </a:t>
            </a:r>
            <a:r>
              <a:rPr lang="en-US" dirty="0">
                <a:solidFill>
                  <a:schemeClr val="accent2"/>
                </a:solidFill>
              </a:rPr>
              <a:t>correlation matrix (</a:t>
            </a:r>
            <a:r>
              <a:rPr lang="en-US" dirty="0" err="1">
                <a:solidFill>
                  <a:schemeClr val="accent2"/>
                </a:solidFill>
              </a:rPr>
              <a:t>df.corr</a:t>
            </a:r>
            <a:r>
              <a:rPr lang="en-US" dirty="0" smtClean="0">
                <a:solidFill>
                  <a:schemeClr val="accent2"/>
                </a:solidFill>
              </a:rPr>
              <a:t>())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3399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Used </a:t>
            </a:r>
            <a:r>
              <a:rPr lang="en-US" dirty="0" err="1">
                <a:solidFill>
                  <a:schemeClr val="accent2"/>
                </a:solidFill>
              </a:rPr>
              <a:t>Seaborn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pairplot</a:t>
            </a:r>
            <a:r>
              <a:rPr lang="en-US" dirty="0">
                <a:solidFill>
                  <a:schemeClr val="accent2"/>
                </a:solidFill>
              </a:rPr>
              <a:t> to visualize relationships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Pair Plot (Scatterplot Matrix)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" y="1857614"/>
            <a:ext cx="7543800" cy="4000023"/>
          </a:xfrm>
        </p:spPr>
      </p:pic>
    </p:spTree>
    <p:extLst>
      <p:ext uri="{BB962C8B-B14F-4D97-AF65-F5344CB8AC3E}">
        <p14:creationId xmlns:p14="http://schemas.microsoft.com/office/powerpoint/2010/main" val="424881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Splitting the Data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5324" y="1011982"/>
            <a:ext cx="7766860" cy="544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800" b="1" dirty="0" smtClean="0">
              <a:solidFill>
                <a:schemeClr val="accent2"/>
              </a:solidFill>
            </a:endParaRPr>
          </a:p>
          <a:p>
            <a:endParaRPr lang="en-US" sz="1800" b="1" dirty="0">
              <a:solidFill>
                <a:schemeClr val="accent2"/>
              </a:solidFill>
            </a:endParaRPr>
          </a:p>
          <a:p>
            <a:r>
              <a:rPr lang="en-US" sz="1800" b="1" dirty="0" smtClean="0">
                <a:solidFill>
                  <a:schemeClr val="accent2"/>
                </a:solidFill>
              </a:rPr>
              <a:t>Train/Test </a:t>
            </a:r>
            <a:r>
              <a:rPr lang="en-US" sz="1800" b="1" dirty="0">
                <a:solidFill>
                  <a:schemeClr val="accent2"/>
                </a:solidFill>
              </a:rPr>
              <a:t>Split:</a:t>
            </a:r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b="1" dirty="0">
                <a:solidFill>
                  <a:schemeClr val="accent2"/>
                </a:solidFill>
              </a:rPr>
              <a:t>80% Training</a:t>
            </a:r>
            <a:r>
              <a:rPr lang="en-US" sz="1800" dirty="0">
                <a:solidFill>
                  <a:schemeClr val="accent2"/>
                </a:solidFill>
              </a:rPr>
              <a:t> — 96 samples</a:t>
            </a:r>
          </a:p>
          <a:p>
            <a:r>
              <a:rPr lang="en-US" sz="1800" b="1" dirty="0">
                <a:solidFill>
                  <a:schemeClr val="accent2"/>
                </a:solidFill>
              </a:rPr>
              <a:t>20% Testing</a:t>
            </a:r>
            <a:r>
              <a:rPr lang="en-US" sz="1800" dirty="0">
                <a:solidFill>
                  <a:schemeClr val="accent2"/>
                </a:solidFill>
              </a:rPr>
              <a:t> — 24 </a:t>
            </a:r>
            <a:r>
              <a:rPr lang="en-US" sz="1800" dirty="0" smtClean="0">
                <a:solidFill>
                  <a:schemeClr val="accent2"/>
                </a:solidFill>
              </a:rPr>
              <a:t>samples</a:t>
            </a:r>
          </a:p>
          <a:p>
            <a:r>
              <a:rPr lang="en-US" sz="1800" dirty="0" smtClean="0">
                <a:solidFill>
                  <a:schemeClr val="accent2"/>
                </a:solidFill>
              </a:rPr>
              <a:t>Used </a:t>
            </a:r>
            <a:r>
              <a:rPr lang="en-US" sz="1800" dirty="0" err="1">
                <a:solidFill>
                  <a:schemeClr val="accent2"/>
                </a:solidFill>
              </a:rPr>
              <a:t>Scikit</a:t>
            </a:r>
            <a:r>
              <a:rPr lang="en-US" sz="1800" dirty="0">
                <a:solidFill>
                  <a:schemeClr val="accent2"/>
                </a:solidFill>
              </a:rPr>
              <a:t>-Learn</a:t>
            </a:r>
            <a:r>
              <a:rPr lang="en-US" sz="1800" dirty="0" smtClean="0">
                <a:solidFill>
                  <a:schemeClr val="accent2"/>
                </a:solidFill>
              </a:rPr>
              <a:t>:</a:t>
            </a:r>
          </a:p>
          <a:p>
            <a:endParaRPr lang="en-US" sz="1800" dirty="0">
              <a:solidFill>
                <a:schemeClr val="accent2"/>
              </a:solidFill>
            </a:endParaRPr>
          </a:p>
          <a:p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X_test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, </a:t>
            </a:r>
            <a:r>
              <a:rPr lang="en-US" sz="1800" dirty="0" err="1"/>
              <a:t>y_test</a:t>
            </a:r>
            <a:r>
              <a:rPr lang="en-US" sz="1800" dirty="0"/>
              <a:t> = </a:t>
            </a:r>
            <a:r>
              <a:rPr lang="en-US" sz="1800" dirty="0" err="1"/>
              <a:t>train_test_split</a:t>
            </a:r>
            <a:r>
              <a:rPr lang="en-US" sz="1800" dirty="0"/>
              <a:t>(</a:t>
            </a:r>
          </a:p>
          <a:p>
            <a:r>
              <a:rPr lang="en-US" sz="1800" dirty="0"/>
              <a:t>    X, y, </a:t>
            </a:r>
            <a:r>
              <a:rPr lang="en-US" sz="1800" dirty="0" err="1"/>
              <a:t>test_size</a:t>
            </a:r>
            <a:r>
              <a:rPr lang="en-US" sz="1800" dirty="0"/>
              <a:t>=0.2, </a:t>
            </a:r>
            <a:r>
              <a:rPr lang="en-US" sz="1800" dirty="0" err="1"/>
              <a:t>random_state</a:t>
            </a:r>
            <a:r>
              <a:rPr lang="en-US" sz="1800" dirty="0"/>
              <a:t>=42</a:t>
            </a:r>
          </a:p>
          <a:p>
            <a:r>
              <a:rPr lang="en-US" sz="1800" dirty="0"/>
              <a:t>)</a:t>
            </a:r>
          </a:p>
          <a:p>
            <a:endParaRPr lang="en-US" sz="1800" dirty="0" smtClean="0">
              <a:solidFill>
                <a:schemeClr val="accent2"/>
              </a:solidFill>
            </a:endParaRPr>
          </a:p>
          <a:p>
            <a:endParaRPr lang="en-US" sz="1800" dirty="0">
              <a:solidFill>
                <a:schemeClr val="accent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919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Model Training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15323" y="1890666"/>
            <a:ext cx="5048754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Model Used: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accent2"/>
                </a:solidFill>
                <a:effectLst/>
              </a:rPr>
              <a:t>LinearRegression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Fitted using TV, Radio, Newspaper as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Extracted model intercept &amp; coefficients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Coefficients Learned: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accent2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TV → small positive influence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Radio → strongest influence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</a:rPr>
              <a:t>Newspaper → weaker influence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625" y="3629891"/>
            <a:ext cx="3231135" cy="140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1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Model Evaluation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182" y="2753256"/>
            <a:ext cx="4876800" cy="2140579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959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Residual Analysis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Residual plot used to check error distribution: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Residuals are scattered around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No major pattern → good linear fit</a:t>
            </a:r>
          </a:p>
          <a:p>
            <a:endParaRPr lang="en-US" sz="1800" i="1" dirty="0">
              <a:solidFill>
                <a:schemeClr val="accent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880" t="9350" r="7255" b="6618"/>
          <a:stretch/>
        </p:blipFill>
        <p:spPr>
          <a:xfrm>
            <a:off x="4594859" y="2244436"/>
            <a:ext cx="4442691" cy="358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3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Cross-Validation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Used </a:t>
            </a:r>
            <a:r>
              <a:rPr lang="en-US" sz="1800" b="1" dirty="0">
                <a:solidFill>
                  <a:schemeClr val="accent2"/>
                </a:solidFill>
              </a:rPr>
              <a:t>5-Fold </a:t>
            </a:r>
            <a:r>
              <a:rPr lang="en-US" sz="1800" b="1" dirty="0" err="1">
                <a:solidFill>
                  <a:schemeClr val="accent2"/>
                </a:solidFill>
              </a:rPr>
              <a:t>KFold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smtClean="0">
                <a:solidFill>
                  <a:schemeClr val="accent2"/>
                </a:solidFill>
              </a:rPr>
              <a:t>CV</a:t>
            </a:r>
          </a:p>
          <a:p>
            <a:r>
              <a:rPr lang="en-US" sz="1800" dirty="0" err="1">
                <a:solidFill>
                  <a:schemeClr val="accent2"/>
                </a:solidFill>
              </a:rPr>
              <a:t>cv_scores</a:t>
            </a:r>
            <a:r>
              <a:rPr lang="en-US" sz="1800" dirty="0">
                <a:solidFill>
                  <a:schemeClr val="accent2"/>
                </a:solidFill>
              </a:rPr>
              <a:t> = </a:t>
            </a:r>
            <a:r>
              <a:rPr lang="en-US" sz="1800" dirty="0" err="1">
                <a:solidFill>
                  <a:schemeClr val="accent2"/>
                </a:solidFill>
              </a:rPr>
              <a:t>cross_val_score</a:t>
            </a:r>
            <a:r>
              <a:rPr lang="en-US" sz="1800" dirty="0">
                <a:solidFill>
                  <a:schemeClr val="accent2"/>
                </a:solidFill>
              </a:rPr>
              <a:t>(model, X, y, cv=</a:t>
            </a:r>
            <a:r>
              <a:rPr lang="en-US" sz="1800" dirty="0" err="1">
                <a:solidFill>
                  <a:schemeClr val="accent2"/>
                </a:solidFill>
              </a:rPr>
              <a:t>kf</a:t>
            </a:r>
            <a:r>
              <a:rPr lang="en-US" sz="1800" dirty="0">
                <a:solidFill>
                  <a:schemeClr val="accent2"/>
                </a:solidFill>
              </a:rPr>
              <a:t>, scoring='r2</a:t>
            </a:r>
            <a:r>
              <a:rPr lang="en-US" sz="1800" dirty="0" smtClean="0">
                <a:solidFill>
                  <a:schemeClr val="accent2"/>
                </a:solidFill>
              </a:rPr>
              <a:t>')</a:t>
            </a:r>
          </a:p>
          <a:p>
            <a:endParaRPr lang="en-US" sz="1800" dirty="0" smtClean="0">
              <a:solidFill>
                <a:schemeClr val="accent2"/>
              </a:solidFill>
            </a:endParaRPr>
          </a:p>
          <a:p>
            <a:endParaRPr lang="en-US" sz="1800" dirty="0">
              <a:solidFill>
                <a:schemeClr val="accent2"/>
              </a:solidFill>
            </a:endParaRPr>
          </a:p>
          <a:p>
            <a:endParaRPr lang="en-US" sz="1800" dirty="0" smtClean="0">
              <a:solidFill>
                <a:schemeClr val="accent2"/>
              </a:solidFill>
            </a:endParaRPr>
          </a:p>
          <a:p>
            <a:endParaRPr lang="en-US" sz="1800" dirty="0" smtClean="0">
              <a:solidFill>
                <a:schemeClr val="accent2"/>
              </a:solidFill>
            </a:endParaRPr>
          </a:p>
          <a:p>
            <a:r>
              <a:rPr lang="en-US" sz="1800" dirty="0" smtClean="0">
                <a:solidFill>
                  <a:schemeClr val="accent2"/>
                </a:solidFill>
              </a:rPr>
              <a:t>Meaning</a:t>
            </a:r>
            <a:r>
              <a:rPr lang="en-US" sz="1800" dirty="0">
                <a:solidFill>
                  <a:schemeClr val="accent2"/>
                </a:solidFill>
              </a:rPr>
              <a:t>:</a:t>
            </a:r>
            <a:br>
              <a:rPr lang="en-US" sz="1800" dirty="0">
                <a:solidFill>
                  <a:schemeClr val="accent2"/>
                </a:solidFill>
              </a:rPr>
            </a:br>
            <a:r>
              <a:rPr lang="en-US" sz="1800" dirty="0">
                <a:solidFill>
                  <a:schemeClr val="accent2"/>
                </a:solidFill>
              </a:rPr>
              <a:t>Model is stable, generalizes well across folds.</a:t>
            </a:r>
          </a:p>
          <a:p>
            <a:endParaRPr lang="en-US" sz="1800" dirty="0" smtClean="0">
              <a:solidFill>
                <a:schemeClr val="accent2"/>
              </a:solidFill>
            </a:endParaRPr>
          </a:p>
          <a:p>
            <a:endParaRPr lang="en-US" sz="1800" i="1" dirty="0">
              <a:solidFill>
                <a:schemeClr val="accent2"/>
              </a:solidFill>
            </a:endParaRPr>
          </a:p>
          <a:p>
            <a:endParaRPr lang="en-US" sz="1800" i="1" dirty="0" smtClean="0">
              <a:solidFill>
                <a:schemeClr val="accent2"/>
              </a:solidFill>
            </a:endParaRPr>
          </a:p>
          <a:p>
            <a:endParaRPr lang="en-US" sz="1800" i="1" dirty="0">
              <a:solidFill>
                <a:schemeClr val="accent2"/>
              </a:solidFill>
            </a:endParaRPr>
          </a:p>
          <a:p>
            <a:endParaRPr lang="en-US" sz="1800" i="1" dirty="0" smtClean="0">
              <a:solidFill>
                <a:schemeClr val="accent2"/>
              </a:solidFill>
            </a:endParaRPr>
          </a:p>
          <a:p>
            <a:endParaRPr lang="en-US" sz="1800" i="1" dirty="0">
              <a:solidFill>
                <a:schemeClr val="accent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386437"/>
            <a:ext cx="8166946" cy="47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4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Saved </a:t>
            </a:r>
            <a:r>
              <a:rPr lang="en-US" dirty="0">
                <a:solidFill>
                  <a:schemeClr val="accent2"/>
                </a:solidFill>
              </a:rPr>
              <a:t>the trained model using </a:t>
            </a:r>
            <a:r>
              <a:rPr lang="en-US" dirty="0" err="1">
                <a:solidFill>
                  <a:schemeClr val="accent2"/>
                </a:solidFill>
              </a:rPr>
              <a:t>Joblib</a:t>
            </a:r>
            <a:r>
              <a:rPr lang="en-US" dirty="0" smtClean="0">
                <a:solidFill>
                  <a:schemeClr val="accent2"/>
                </a:solidFill>
              </a:rPr>
              <a:t>: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8489"/>
          <a:stretch/>
        </p:blipFill>
        <p:spPr>
          <a:xfrm>
            <a:off x="1269264" y="3120537"/>
            <a:ext cx="6309907" cy="73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0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Results &amp; Insights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96938" y="1834105"/>
            <a:ext cx="6686446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Successfully built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multiple linear regression model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Understood how each advertising medium impacts sales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Performed evaluation + visual diagnostics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Implemented cross-validation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Exported final trained model safely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413" y="1014461"/>
            <a:ext cx="7543801" cy="402336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solidFill>
                  <a:schemeClr val="accent1"/>
                </a:solidFill>
              </a:rPr>
              <a:t>Thank You</a:t>
            </a:r>
            <a:endParaRPr lang="en-US" sz="6600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7" y="266223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864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483</TotalTime>
  <Words>318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</vt:lpstr>
      <vt:lpstr>Project 2: Multiple Linear Regression on Advertising Dataset</vt:lpstr>
      <vt:lpstr>Objective </vt:lpstr>
      <vt:lpstr>Dataset Used</vt:lpstr>
      <vt:lpstr>Tools Used</vt:lpstr>
      <vt:lpstr>Steps Performed</vt:lpstr>
      <vt:lpstr>Pair Plot (Scatterplot Matrix)</vt:lpstr>
      <vt:lpstr>Splitting the Data </vt:lpstr>
      <vt:lpstr>Model Training</vt:lpstr>
      <vt:lpstr>Model Evaluation</vt:lpstr>
      <vt:lpstr>Residual Analysis</vt:lpstr>
      <vt:lpstr>Cross-Validation</vt:lpstr>
      <vt:lpstr>Model Saving</vt:lpstr>
      <vt:lpstr>Results &amp;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Sales Data Analysis</dc:title>
  <dc:subject/>
  <dc:creator>Admin</dc:creator>
  <cp:keywords/>
  <dc:description>generated using python-pptx</dc:description>
  <cp:lastModifiedBy>Microsoft account</cp:lastModifiedBy>
  <cp:revision>21</cp:revision>
  <dcterms:created xsi:type="dcterms:W3CDTF">2013-01-27T09:14:16Z</dcterms:created>
  <dcterms:modified xsi:type="dcterms:W3CDTF">2025-11-20T17:51:07Z</dcterms:modified>
  <cp:category/>
</cp:coreProperties>
</file>